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69" r:id="rId3"/>
    <p:sldId id="257" r:id="rId4"/>
    <p:sldId id="279" r:id="rId5"/>
    <p:sldId id="274" r:id="rId6"/>
    <p:sldId id="287" r:id="rId7"/>
    <p:sldId id="288" r:id="rId8"/>
    <p:sldId id="289" r:id="rId9"/>
    <p:sldId id="275" r:id="rId10"/>
    <p:sldId id="284" r:id="rId11"/>
    <p:sldId id="285" r:id="rId12"/>
    <p:sldId id="273" r:id="rId13"/>
    <p:sldId id="286" r:id="rId14"/>
    <p:sldId id="277" r:id="rId15"/>
    <p:sldId id="290" r:id="rId16"/>
    <p:sldId id="268" r:id="rId17"/>
    <p:sldId id="270" r:id="rId18"/>
    <p:sldId id="265" r:id="rId19"/>
    <p:sldId id="278" r:id="rId20"/>
    <p:sldId id="26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1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53503798_A_Survey_of_University_Course_Timetabling_Problem_Perspectives_Trends_and_Opportunities?utm_source=chatgpt.co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shamanth-ui/smart-classroom-timetable-scheduler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53503798_A_Survey_of_University_Course_Timetabling_Problem_Perspectives_Trends_and_Opportunities?utm_source=chatgpt.com" TargetMode="External"/><Relationship Id="rId7" Type="http://schemas.openxmlformats.org/officeDocument/2006/relationships/hyperlink" Target="https://ijcaonline.org/volume1/number17/pxc387533.pdf?utm_source=chatgpt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nitime.org/papers/phd05.pdf?utm_source=chatgpt.com" TargetMode="External"/><Relationship Id="rId5" Type="http://schemas.openxmlformats.org/officeDocument/2006/relationships/hyperlink" Target="https://www.itc2019.org/?utm_source=chatgpt.com" TargetMode="External"/><Relationship Id="rId4" Type="http://schemas.openxmlformats.org/officeDocument/2006/relationships/hyperlink" Target="https://www.sciencedirect.com/science/article/abs/pii/S0360835214003714?utm_source=chatgpt.com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1877050919318800?utm_source=chatgpt.com" TargetMode="External"/><Relationship Id="rId7" Type="http://schemas.openxmlformats.org/officeDocument/2006/relationships/hyperlink" Target="https://papers.ssrn.com/sol3/papers.cfm?abstract_id=4691286&amp;utm_source=chatgpt.com" TargetMode="External"/><Relationship Id="rId2" Type="http://schemas.openxmlformats.org/officeDocument/2006/relationships/hyperlink" Target="https://ijarcce.com/wp-content/uploads/2015/03/IJARCCE4I.pdf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1424-8220/24/11/3276?utm_source=chatgpt.com" TargetMode="External"/><Relationship Id="rId5" Type="http://schemas.openxmlformats.org/officeDocument/2006/relationships/hyperlink" Target="https://link.springer.com/article/10.1007/s10951-023-00801-w?utm_source=chatgpt.com" TargetMode="External"/><Relationship Id="rId4" Type="http://schemas.openxmlformats.org/officeDocument/2006/relationships/hyperlink" Target="https://arxiv.org/pdf/2401.06952?utm_source=chatgpt.com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Classroom &amp; Timetable Scheduler</a:t>
            </a:r>
            <a:endParaRPr sz="3600" dirty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CSE_7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07226"/>
            <a:ext cx="5514300" cy="240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Jerrin Joe Francis</a:t>
            </a:r>
            <a:endParaRPr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524464015"/>
              </p:ext>
            </p:extLst>
          </p:nvPr>
        </p:nvGraphicFramePr>
        <p:xfrm>
          <a:off x="553347" y="2721840"/>
          <a:ext cx="5926848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280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6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20221CSE0714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SHAMANTH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20221CSE0713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SANJEEV G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20221CSE0785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SHASHIKIRAN S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Review-5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553347" y="4533900"/>
            <a:ext cx="11696568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Computer Science and Engineering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Blessed Prince  , Dr. Asif Mohamed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i="0" u="none" strike="noStrike" cap="none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	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Jayavadivel Ravi</a:t>
            </a:r>
            <a:endParaRPr lang="en-US" sz="18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Organization: Government of Jharkhand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Category : Software</a:t>
            </a:r>
          </a:p>
          <a:p>
            <a:pPr marL="342900" lvl="0" indent="-19050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Description: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academic scheduling and classroom management systems are inefficient, manual, and time-consuming. Institutions face frequent issues such as timetable clashes, uneven resource allocation, overlapping faculty schedules, and lack of real-time classroom utilization insights.</a:t>
            </a:r>
          </a:p>
          <a:p>
            <a:pPr marL="76200" indent="0">
              <a:lnSpc>
                <a:spcPct val="120000"/>
              </a:lnSpc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need is to build an </a:t>
            </a: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Smart Classroom &amp; Timetable Scheduler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that:</a:t>
            </a:r>
          </a:p>
          <a:p>
            <a:pPr>
              <a:lnSpc>
                <a:spcPct val="12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classrooms intelligently</a:t>
            </a:r>
          </a:p>
          <a:p>
            <a:pPr>
              <a:lnSpc>
                <a:spcPct val="12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error-free timetables</a:t>
            </a:r>
          </a:p>
          <a:p>
            <a:pPr>
              <a:lnSpc>
                <a:spcPct val="12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AI-based optimization</a:t>
            </a:r>
          </a:p>
          <a:p>
            <a:pPr>
              <a:lnSpc>
                <a:spcPct val="120000"/>
              </a:lnSpc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transparency and efficient management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865239"/>
            <a:ext cx="10668000" cy="5718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32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Existing Methods and Drawbacks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Proposed Methods and Feasibility Study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Architecture Diagram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6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Hardware and Software Details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Timeline of the Project (Gantt Chart)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6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8BE45-82B1-8C12-1AD0-3E768AA6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69A2D1-7197-2919-DE02-06D2C5A55A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799" y="1170215"/>
            <a:ext cx="1066800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Manual timetable preparation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time-consuming and often causes conflicts related to faculty availability, classroom capacity, and subject scheduling.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Classroom &amp; Timetable Scheduler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automates timetable generation and classroom allocation through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web application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uses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a user interface, scheduling engine, and relational database for efficient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eliminates scheduling conflicts, optimizes classroom usage, and improves administrative efficiency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educational institutions.</a:t>
            </a:r>
          </a:p>
        </p:txBody>
      </p:sp>
    </p:spTree>
    <p:extLst>
      <p:ext uri="{BB962C8B-B14F-4D97-AF65-F5344CB8AC3E}">
        <p14:creationId xmlns:p14="http://schemas.microsoft.com/office/powerpoint/2010/main" val="249780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91BBA-F2C6-9D96-C647-C6D3CF231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54D4705-84D0-6CB3-E108-C0AAC710EB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37419" y="1209367"/>
            <a:ext cx="11100619" cy="4005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production-ready web-based timetable scheduling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automatically generates conflict-free classroom and faculty schedules.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timetable generation time and improve interactivity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a hybrid scheduling approach that provides quick previews and optimized final schedules.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flexible, rule-driven scheduling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allowing academic constraints to be configured dynamically through a centralized database.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scalability, usability, and reliability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role-based access, centralized data management, and validation against standard and real institutional scenarios.</a:t>
            </a:r>
          </a:p>
        </p:txBody>
      </p:sp>
    </p:spTree>
    <p:extLst>
      <p:ext uri="{BB962C8B-B14F-4D97-AF65-F5344CB8AC3E}">
        <p14:creationId xmlns:p14="http://schemas.microsoft.com/office/powerpoint/2010/main" val="4020821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F7223-6DDB-36B6-D371-5C2D743D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Analysis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FB087C-D670-BF74-B1D6-77E7E99AE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461039"/>
              </p:ext>
            </p:extLst>
          </p:nvPr>
        </p:nvGraphicFramePr>
        <p:xfrm>
          <a:off x="403123" y="934065"/>
          <a:ext cx="11543071" cy="5194356"/>
        </p:xfrm>
        <a:graphic>
          <a:graphicData uri="http://schemas.openxmlformats.org/drawingml/2006/table">
            <a:tbl>
              <a:tblPr firstRow="1" bandRow="1"/>
              <a:tblGrid>
                <a:gridCol w="864278">
                  <a:extLst>
                    <a:ext uri="{9D8B030D-6E8A-4147-A177-3AD203B41FA5}">
                      <a16:colId xmlns:a16="http://schemas.microsoft.com/office/drawing/2014/main" val="2122010044"/>
                    </a:ext>
                  </a:extLst>
                </a:gridCol>
                <a:gridCol w="2428862">
                  <a:extLst>
                    <a:ext uri="{9D8B030D-6E8A-4147-A177-3AD203B41FA5}">
                      <a16:colId xmlns:a16="http://schemas.microsoft.com/office/drawing/2014/main" val="1495489674"/>
                    </a:ext>
                  </a:extLst>
                </a:gridCol>
                <a:gridCol w="3095005">
                  <a:extLst>
                    <a:ext uri="{9D8B030D-6E8A-4147-A177-3AD203B41FA5}">
                      <a16:colId xmlns:a16="http://schemas.microsoft.com/office/drawing/2014/main" val="2976749938"/>
                    </a:ext>
                  </a:extLst>
                </a:gridCol>
                <a:gridCol w="2715816">
                  <a:extLst>
                    <a:ext uri="{9D8B030D-6E8A-4147-A177-3AD203B41FA5}">
                      <a16:colId xmlns:a16="http://schemas.microsoft.com/office/drawing/2014/main" val="156582977"/>
                    </a:ext>
                  </a:extLst>
                </a:gridCol>
                <a:gridCol w="2439110">
                  <a:extLst>
                    <a:ext uri="{9D8B030D-6E8A-4147-A177-3AD203B41FA5}">
                      <a16:colId xmlns:a16="http://schemas.microsoft.com/office/drawing/2014/main" val="3684273184"/>
                    </a:ext>
                  </a:extLst>
                </a:gridCol>
              </a:tblGrid>
              <a:tr h="452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/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 / Shortcomings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Scope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889112"/>
                  </a:ext>
                </a:extLst>
              </a:tr>
              <a:tr h="1162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A Survey of University Course Timetabling Problem: Perspectives, Trends and Opportunities(2021)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Comprehensive coverage of algorithms</a:t>
                      </a:r>
                      <a:b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Identifies trends and open challenges</a:t>
                      </a:r>
                      <a:b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Strong theoretical foundation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No implementation details</a:t>
                      </a:r>
                      <a:b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No deployment perspective</a:t>
                      </a:r>
                      <a:b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No runtime comparison for real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Bridge survey insights with production systems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Integrate algorithms into real web platforms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290303"/>
                  </a:ext>
                </a:extLst>
              </a:tr>
              <a:tr h="948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Babaei et al., C&amp;OR (2015) –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Clear classification of timetabling approaches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Explains hard vs soft constraints well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Outdated (pre-ML/RL era)</a:t>
                      </a:r>
                      <a:b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No modern web or scalability discussion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Extend survey with hybrid, ML-based methods</a:t>
                      </a:r>
                      <a:b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Focus on real-time scheduling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085863"/>
                  </a:ext>
                </a:extLst>
              </a:tr>
              <a:tr h="948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ITC 2019 Benchmarks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Standard datasets for fair comparison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Widely accepted evaluation metrics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Misses institution-specific rules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Not designed for deployment use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Extend benchmarks with real college constraints</a:t>
                      </a:r>
                      <a:b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Hybrid evaluation (benchmark + local data)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990213"/>
                  </a:ext>
                </a:extLst>
              </a:tr>
              <a:tr h="948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UniTime / Constraint Programming (2005)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Guarantees hard-constraint satisfaction</a:t>
                      </a:r>
                      <a:b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Strong feasibility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 modeling complexity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Slower for large-scale problems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Not user-friendly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Combine CP with heuristics for speed</a:t>
                      </a:r>
                      <a:b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Build UI-driven constraint management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49745"/>
                  </a:ext>
                </a:extLst>
              </a:tr>
              <a:tr h="734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Genetic Algorithm (IJCA)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Better solution quality than simple heuristics</a:t>
                      </a:r>
                      <a:b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Handles complex 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Parameter tuning is difficult</a:t>
                      </a:r>
                      <a:b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 runtime</a:t>
                      </a:r>
                      <a:b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Prototype-level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Adaptive parameter tuning</a:t>
                      </a:r>
                      <a:b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Hybrid greedy + GA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7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1165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426335-8141-0E91-477F-EC7299888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665921"/>
              </p:ext>
            </p:extLst>
          </p:nvPr>
        </p:nvGraphicFramePr>
        <p:xfrm>
          <a:off x="812800" y="1032387"/>
          <a:ext cx="10828595" cy="5120640"/>
        </p:xfrm>
        <a:graphic>
          <a:graphicData uri="http://schemas.openxmlformats.org/drawingml/2006/table">
            <a:tbl>
              <a:tblPr firstRow="1" bandRow="1"/>
              <a:tblGrid>
                <a:gridCol w="1016996">
                  <a:extLst>
                    <a:ext uri="{9D8B030D-6E8A-4147-A177-3AD203B41FA5}">
                      <a16:colId xmlns:a16="http://schemas.microsoft.com/office/drawing/2014/main" val="378319010"/>
                    </a:ext>
                  </a:extLst>
                </a:gridCol>
                <a:gridCol w="2537649">
                  <a:extLst>
                    <a:ext uri="{9D8B030D-6E8A-4147-A177-3AD203B41FA5}">
                      <a16:colId xmlns:a16="http://schemas.microsoft.com/office/drawing/2014/main" val="3903947651"/>
                    </a:ext>
                  </a:extLst>
                </a:gridCol>
                <a:gridCol w="2450478">
                  <a:extLst>
                    <a:ext uri="{9D8B030D-6E8A-4147-A177-3AD203B41FA5}">
                      <a16:colId xmlns:a16="http://schemas.microsoft.com/office/drawing/2014/main" val="3799262031"/>
                    </a:ext>
                  </a:extLst>
                </a:gridCol>
                <a:gridCol w="2657753">
                  <a:extLst>
                    <a:ext uri="{9D8B030D-6E8A-4147-A177-3AD203B41FA5}">
                      <a16:colId xmlns:a16="http://schemas.microsoft.com/office/drawing/2014/main" val="3848115604"/>
                    </a:ext>
                  </a:extLst>
                </a:gridCol>
                <a:gridCol w="2165719">
                  <a:extLst>
                    <a:ext uri="{9D8B030D-6E8A-4147-A177-3AD203B41FA5}">
                      <a16:colId xmlns:a16="http://schemas.microsoft.com/office/drawing/2014/main" val="4114958465"/>
                    </a:ext>
                  </a:extLst>
                </a:gridCol>
              </a:tblGrid>
              <a:tr h="672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Genetic Algorithm (IJCA)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Better solution quality than simple heuristics• Handles complex constraints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Parameter tuning is difficult• High runtime• Prototype-level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Adaptive parameter tuning• Hybrid greedy + GA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43550"/>
                  </a:ext>
                </a:extLst>
              </a:tr>
              <a:tr h="672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GA-based Timetable (IJARCCE)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Demonstrates automation feasibility• Reduces manual conflicts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Small datasets only• No scalability testing• No web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Apply GA to real datasets• Integrate into REST-based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170181"/>
                  </a:ext>
                </a:extLst>
              </a:tr>
              <a:tr h="672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[7]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Hyper-Heuristics (Tabu + SA)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More generalizable across problems• Less manual 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High implementation complexity• Computationally expensive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Lightweight hyper-heuristics• Real-time heuristic selection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971703"/>
                  </a:ext>
                </a:extLst>
              </a:tr>
              <a:tr h="672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[8]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Reinforcement Learning (arXiv 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Handles dynamic rescheduling• Learns from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Requires large training data• High compute cost• Low interpretability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Explainable RL• Hybrid RL + rule-based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0744998"/>
                  </a:ext>
                </a:extLst>
              </a:tr>
              <a:tr h="672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[9]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Springer Case Study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Realistic institutional modeling• Practical constraint 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Institution-specific• Limited reusability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Generalized reusable frameworks• Multi-institution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366935"/>
                  </a:ext>
                </a:extLst>
              </a:tr>
              <a:tr h="672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[10]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Occupancy Prediction (MDPI 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Improves room utilization accuracy• Data-driven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Requires IoT hardware• Privacy concerns• High setup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Software-only prediction models• Privacy-aware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060610"/>
                  </a:ext>
                </a:extLst>
              </a:tr>
              <a:tr h="672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[11]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Web Prototypes (SSRN 2023–24)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Combines algorithms + web UI• Closer to real-world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Prototype-level• Limited performance evaluation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Full production systems• Enterprise-scale deployment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5233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082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1B324-AD02-9C4E-BE61-05B67C3E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1E4CA-0033-AB0E-F0E8-81A842FF8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E. I. C. Chen, “A Survey of University Course Timetabling Problem: Perspectives, Trends and Opportunities,”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pp. 1–25, 2021.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https://www.researchgate.net/publication/353503798_A_Survey_of_University_Course_Timetabling_Problem_Perspectives_Trends_and_Opportunities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90183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B5FF7-37F8-2676-77D9-5BFDBE91B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 and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5F526-A2A9-5F5E-032D-4DAF2884F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884903"/>
            <a:ext cx="10668000" cy="5211098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Scheduling / Spreadsheets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Timetables created using Excel or paper-based methods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Static Software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rules hardcoded into applications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Algorithm-Only Academic Solutions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Standalone scheduling algorithms without full system integration</a:t>
            </a:r>
          </a:p>
          <a:p>
            <a:pPr marL="5588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chance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faculty, classroom, and time-slot conflicts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difficult to update or reschedule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multiple departments and semesters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validation, usability, and deployment readiness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just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25726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20CA2-690D-63C0-1D74-57580DA4D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&amp; Feasibility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6EB43-536B-22FE-7FD8-BB5E8BE76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Smart Classroom &amp; Timetable Scheduler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scheduling approach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rule-based greedy scheduling for quick previews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scheduling using backend logic for final timetables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constraint-driven scheduling engine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real-time validation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frontend, backend, and database layers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3331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D7E14-266D-8ED9-7F00-78EDE26CA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&amp; Feasibility Study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6497B3-5EC5-2584-6114-C9FFE72EE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Spring Boot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JS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REST-based architecture ensures scalability and maintainability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technologies with strong community and long-term support</a:t>
            </a: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frameworks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minimal development cost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specialized hardware required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administrative effort lowers operational cost</a:t>
            </a:r>
          </a:p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role-based user interface for administrators and faculty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configuration of rules without code changes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training required for end users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759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 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78417F-4E1D-5194-319D-015767E4B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279052"/>
            <a:ext cx="10769600" cy="455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2476E-7DEF-961D-BB3F-42C414DAA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Modules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C896D-C6C5-E1D9-48FE-0E2EF8920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943898"/>
            <a:ext cx="11379200" cy="5191431"/>
          </a:xfrm>
        </p:spPr>
        <p:txBody>
          <a:bodyPr>
            <a:normAutofit fontScale="55000" lnSpcReduction="20000"/>
          </a:bodyPr>
          <a:lstStyle/>
          <a:p>
            <a:pPr marL="7620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faculty, subjects, classrooms, and time slots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scheduling rules and constraints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and publish timetables</a:t>
            </a:r>
          </a:p>
          <a:p>
            <a:pPr marL="7620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Scheduling Engine Module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conflict-free timetables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faculty availability and room capacity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Optimizes schedules based on defined constraints</a:t>
            </a:r>
          </a:p>
          <a:p>
            <a:pPr marL="7620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Classroom Management Module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classroom details and capacity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efficient room allocation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double-booking</a:t>
            </a:r>
          </a:p>
          <a:p>
            <a:pPr marL="7620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Faculty Module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assigned schedules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workload and availability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updated timetables</a:t>
            </a:r>
          </a:p>
          <a:p>
            <a:pPr marL="7620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Database Module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academic data, rules, and schedules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consistency and version history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9267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D1FEE-EBEF-F95D-2BA8-1E420B6F2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Details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BDF6C19-65DC-D0AE-73CA-6145C1B38B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97857" y="875071"/>
            <a:ext cx="9468466" cy="6117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Minimum Intel i3 or equivalent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4 GB or above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20 GB free disk space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Type: Personal Computer / Laptop</a:t>
            </a:r>
          </a:p>
          <a:p>
            <a:pPr marL="7620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 JS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Java Spring Boot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Server: Embedded server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 IDE, Browser</a:t>
            </a: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2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7A3AC-9139-6031-4485-667A810E3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1B4CA7-FF59-091C-9D83-30BD75430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825588"/>
              </p:ext>
            </p:extLst>
          </p:nvPr>
        </p:nvGraphicFramePr>
        <p:xfrm>
          <a:off x="812800" y="1022555"/>
          <a:ext cx="10277988" cy="4886628"/>
        </p:xfrm>
        <a:graphic>
          <a:graphicData uri="http://schemas.openxmlformats.org/drawingml/2006/table">
            <a:tbl>
              <a:tblPr firstRow="1" bandRow="1"/>
              <a:tblGrid>
                <a:gridCol w="5138994">
                  <a:extLst>
                    <a:ext uri="{9D8B030D-6E8A-4147-A177-3AD203B41FA5}">
                      <a16:colId xmlns:a16="http://schemas.microsoft.com/office/drawing/2014/main" val="1436156524"/>
                    </a:ext>
                  </a:extLst>
                </a:gridCol>
                <a:gridCol w="5138994">
                  <a:extLst>
                    <a:ext uri="{9D8B030D-6E8A-4147-A177-3AD203B41FA5}">
                      <a16:colId xmlns:a16="http://schemas.microsoft.com/office/drawing/2014/main" val="3462243752"/>
                    </a:ext>
                  </a:extLst>
                </a:gridCol>
              </a:tblGrid>
              <a:tr h="81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2586497"/>
                  </a:ext>
                </a:extLst>
              </a:tr>
              <a:tr h="81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Pairwise Conflict Detection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of the scheduling problem — prevents all invalid timetables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7077984"/>
                  </a:ext>
                </a:extLst>
              </a:tr>
              <a:tr h="81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Reactive Cascade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Keeps entire UI in sync — the heartbeat of the app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971891"/>
                  </a:ext>
                </a:extLst>
              </a:tr>
              <a:tr h="814438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Grid Construction + Slot Lookup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the user sees — the timetable itself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1507865"/>
                  </a:ext>
                </a:extLst>
              </a:tr>
              <a:tr h="81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Slot Placement + Validation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entry point for all scheduling decisions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427108"/>
                  </a:ext>
                </a:extLst>
              </a:tr>
              <a:tr h="814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 Slot Sorting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timetable always displays in logical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764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636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711200" y="13843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  <a:hlinkClick r:id="rId3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https://github.com/Mshamanth-ui/smart-classroom-timetable-scheduler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9E0890-741C-0AE9-1F0D-0EAFA5A52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020036"/>
            <a:ext cx="10572955" cy="502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521110" y="599768"/>
            <a:ext cx="11425084" cy="5624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240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M. E. I. C. Chen, “A Survey of University Course Timetabling Problem: Perspectives, Trends and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https://www.researchgate.net/publication/353503798_A_Survey_of_University_Course_Timetabling_Problem_Perspectives_Trends_and_Opportunities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H. Babaei, J. Karimpour, and A.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Hadidi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survey of approaches for university course timetabling,”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Computers &amp; Operations Research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40, no. 1, pp. 127–151, 2015.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https://www.sciencedirect.com/science/article/abs/pii/S0360835214003714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International Timetabling Competition (ITC) 2019 Committee, “International Timetabling Competition 2019: Benchmark Instances and Evaluation,” 2019.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https://www.itc2019.org/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M. Müller, “Constraint-Based Timetabling,” Ph.D. dissertation,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Timetabling Project (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UniTime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2005.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https://www.unitime.org/papers/phd05.pdf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A. Author, “A Hybrid Genetic Algorithm Approach to a Departmental Class Timetabling Problem,”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Applications (IJCA)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conference proceedings, year.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https://ijcaonline.org/volume1/number17/pxc387533.pdf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152400" indent="0">
              <a:lnSpc>
                <a:spcPct val="150000"/>
              </a:lnSpc>
              <a:spcBef>
                <a:spcPts val="0"/>
              </a:spcBef>
              <a:buNone/>
            </a:pPr>
            <a:endParaRPr sz="18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0AE56-DAC5-7303-9C11-9129D6AB9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799" y="1143001"/>
            <a:ext cx="11182555" cy="4953000"/>
          </a:xfrm>
        </p:spPr>
        <p:txBody>
          <a:bodyPr>
            <a:normAutofit lnSpcReduction="10000"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S. Author, “Automated Timetable Generation using Genetic Algorithm,”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Computer and Communication Engineering (IJARCCE)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2015.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https://ijarcce.com/wp-content/uploads/2015/03/IJARCCE4I.pdf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X. Author, “Hyper-Heuristics for Course Timetabling Using Tabu Search and Simulated Annealing,”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Procedia Computer Science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ScienceDirect, year.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https://www.sciencedirect.com/science/article/pii/S1877050919318800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Y. Author, “Reinforcement Learning Approaches to Scheduling and Rescheduling,”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https://arxiv.org/pdf/2401.06952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Z. Author, “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Solving University Course Timetabling Problems,”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Scheduling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Springer, 2023.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https://link.springer.com/article/10.1007/s10951-023-00801-w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A. Author, “Occupancy Prediction and IoT-Based Occupancy Detection: A Review,”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MDPI, vol. 24, no. 11, 2024.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https://www.mdpi.com/1424-8220/24/11/3276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B. Author, “Hybrid Technologies and Web-Based Prototypes for Course Timetabling,”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SSRN Electronic Journal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2023–2024.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https://papers.ssrn.com/sol3/papers.cfm?abstract_id=4691286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363129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1184</TotalTime>
  <Words>1962</Words>
  <Application>Microsoft Office PowerPoint</Application>
  <PresentationFormat>Widescreen</PresentationFormat>
  <Paragraphs>234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</vt:lpstr>
      <vt:lpstr>Times New Roman</vt:lpstr>
      <vt:lpstr>Verdana</vt:lpstr>
      <vt:lpstr>Wingdings</vt:lpstr>
      <vt:lpstr>Bioinformatics</vt:lpstr>
      <vt:lpstr>Smart Classroom &amp; Timetable Scheduler</vt:lpstr>
      <vt:lpstr>Problem Statement Number: </vt:lpstr>
      <vt:lpstr>Content</vt:lpstr>
      <vt:lpstr>Abstract</vt:lpstr>
      <vt:lpstr>OBJECTIVES</vt:lpstr>
      <vt:lpstr>Literature Analysis</vt:lpstr>
      <vt:lpstr>PowerPoint Presentation</vt:lpstr>
      <vt:lpstr>Base Paper</vt:lpstr>
      <vt:lpstr>Existing Methods and Drawbacks</vt:lpstr>
      <vt:lpstr>Proposed Method &amp; Feasibility Study</vt:lpstr>
      <vt:lpstr>Proposed Method &amp; Feasibility Study</vt:lpstr>
      <vt:lpstr>Architecture Diagram </vt:lpstr>
      <vt:lpstr>System Modules</vt:lpstr>
      <vt:lpstr>Hardware and Software Details</vt:lpstr>
      <vt:lpstr>Algorithms </vt:lpstr>
      <vt:lpstr>Github Link</vt:lpstr>
      <vt:lpstr>Timeline of the Project (Gantt Chart)</vt:lpstr>
      <vt:lpstr>References (IEEE Paper format)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Shamanth M</cp:lastModifiedBy>
  <cp:revision>56</cp:revision>
  <dcterms:modified xsi:type="dcterms:W3CDTF">2026-04-25T07:42:25Z</dcterms:modified>
</cp:coreProperties>
</file>